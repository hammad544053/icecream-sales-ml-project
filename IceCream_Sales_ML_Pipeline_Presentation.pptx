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</a:defRPr>
            </a:pPr>
            <a:r>
              <a:t>🍦 Ice Cream Sales Prediction</a:t>
            </a:r>
          </a:p>
          <a:p>
            <a:pPr algn="ctr">
              <a:defRPr sz="2000">
                <a:solidFill>
                  <a:srgbClr val="818CF8"/>
                </a:solidFill>
              </a:defRPr>
            </a:pPr>
            <a:r>
              <a:t>End-to-End Machine Learning Pipeline &amp; Deployment Project</a:t>
            </a:r>
          </a:p>
          <a:p>
            <a:br/>
            <a:r>
              <a:t>ML Engineering Team | Production Model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EXECUTIVE OVERVIEW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Executive Summary &amp; Project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01. Problem Domain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Predicting daily sales revenue using real-time weather indicators.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02. ML Methodology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Polynomial Features &amp; Linear Regression with Pipeline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03. Model Optimization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Hyperparameter tuning via 5-Fold Grid Search CV.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04. Production Deployment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Full-Stack Flask App with Modern Dark UI hosted on Hugging 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PIPELINE ARCHITECTURE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End-to-End Machine Learning 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1460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1. Problem Id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Define target sales metric based on temp &amp; humidity.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1460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164592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2. Data Prep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Analyze 200 weather samples, evaluate statistics.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51460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64592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3. Train-Test Split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80/20 train/test split with seed repeatability.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463040"/>
            <a:ext cx="251460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0" y="164592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4. Linear Baseline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Fit Linear Regression to obtain metric baselines.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251460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5. Poly Pipeline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Engineer non-linear degree=2 interaction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840480"/>
            <a:ext cx="251460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402336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6. GridSearch CV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Tune polynomial degree hyperparameter (1 to 4).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251460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02336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7. Export Model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Serialize pipeline object to .pkl for production.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3840480"/>
            <a:ext cx="251460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402336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8. Web Application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Deploy Flask UI on Hugging Face Spaces Docker.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STAGE 1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Stage 1: Problem Identification &amp; Goal Setting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Core Business Problem</a:t>
            </a:r>
          </a:p>
          <a:p>
            <a:br/>
            <a:r>
              <a:t>Ice cream shop operators struggle with inventory management and staffing due to volatile weather pattern impacts on daily demand.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737360"/>
            <a:ext cx="46936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ML Technical Framing</a:t>
            </a:r>
          </a:p>
          <a:p>
            <a:br/>
            <a:r>
              <a:t>Supervised Continuous Regression:</a:t>
            </a:r>
            <a:br/>
            <a:r>
              <a:t>• Predict Target (y): Daily Revenue / Sales ($)</a:t>
            </a:r>
            <a:br/>
            <a:r>
              <a:t>• Input Features (X): Temperature (°C) &amp; Humidity (%)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STAGE 2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Stage 2: Dataset Overview &amp; Properties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14600" cy="1828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Total Samples</a:t>
            </a:r>
          </a:p>
          <a:p>
            <a:pPr>
              <a:defRPr sz="2000" b="1">
                <a:solidFill>
                  <a:srgbClr val="34D399"/>
                </a:solidFill>
              </a:defRPr>
            </a:pPr>
            <a:r>
              <a:t>200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14600" cy="1828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173736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Features (X)</a:t>
            </a:r>
          </a:p>
          <a:p>
            <a:pPr>
              <a:defRPr sz="2000" b="1">
                <a:solidFill>
                  <a:srgbClr val="34D399"/>
                </a:solidFill>
              </a:defRPr>
            </a:pPr>
            <a:r>
              <a:t>2 (Temp, Humidity)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514600" cy="1828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73736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Target (y)</a:t>
            </a:r>
          </a:p>
          <a:p>
            <a:pPr>
              <a:defRPr sz="2000" b="1">
                <a:solidFill>
                  <a:srgbClr val="34D399"/>
                </a:solidFill>
              </a:defRPr>
            </a:pPr>
            <a:r>
              <a:t>1 (Sales)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463040"/>
            <a:ext cx="2514600" cy="1828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0" y="173736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Missing Values</a:t>
            </a:r>
          </a:p>
          <a:p>
            <a:pPr>
              <a:defRPr sz="2000" b="1">
                <a:solidFill>
                  <a:srgbClr val="34D399"/>
                </a:solidFill>
              </a:defRPr>
            </a:pPr>
            <a:r>
              <a:t>0 (Clean Data)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728655" cy="25603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101800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Dataset Context &amp; Note</a:t>
            </a:r>
          </a:p>
          <a:p>
            <a:br/>
            <a:r>
              <a:t>Dataset represents educational student sample data containing continuous weather indicators collected across varying seasonal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EDA DESCRIPTIVE STATISTICS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Exploratory Data Analysis: Statistical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737360"/>
          <a:ext cx="1018001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5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5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818CF8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818CF8"/>
                          </a:solidFill>
                        </a:defRPr>
                      </a:pPr>
                      <a:r>
                        <a:t>Temperature (°C)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818CF8"/>
                          </a:solidFill>
                        </a:defRPr>
                      </a:pPr>
                      <a:r>
                        <a:t>Humidity (%)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818CF8"/>
                          </a:solidFill>
                        </a:defRPr>
                      </a:pPr>
                      <a:r>
                        <a:t>Sales Revenue ($)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26.94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60.26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122.98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Std Dev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10.32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17.58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50.07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10.19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30.30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29.76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50% (Median)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27.31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62.50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123.02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44.54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89.43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224.40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EXPLORATORY DATA ANALYSIS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EDA Key Findings &amp; Correlations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💡 Positive Temperature Effect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Sales scale strongly with temperature rise (Min $29.76 at 10°C up to $224.40 at 44.5°C).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728655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💡 Humidity Dampening Effect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Higher relative humidity exhibits a slight inverse impact on consumer ice cream purchasing.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93776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💡 Data Distribution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Features show balanced variance without extreme missingness or severe structural skew.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STAGE 3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Stage 3: Data Preprocessing &amp; Train-Test Splitting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9260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80% Training Set</a:t>
            </a:r>
          </a:p>
          <a:p>
            <a:br/>
            <a:r>
              <a:t>160 Samples</a:t>
            </a:r>
            <a:br/>
            <a:r>
              <a:t>Used for model fitting and Grid Search cross-validation fold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9260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20% Testing Set</a:t>
            </a:r>
          </a:p>
          <a:p>
            <a:br/>
            <a:r>
              <a:t>40 Samples</a:t>
            </a:r>
            <a:br/>
            <a:r>
              <a:t>Strictly unseen test data reserved for final model generalization benchmark.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728655" cy="15544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846320"/>
            <a:ext cx="101800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Python Train-Test Split Code:</a:t>
            </a:r>
          </a:p>
          <a:p>
            <a:pPr>
              <a:defRPr sz="1400" b="1">
                <a:solidFill>
                  <a:srgbClr val="34D399"/>
                </a:solidFill>
              </a:defRPr>
            </a:pPr>
            <a:r>
              <a:t>X_train, X_test, y_train, y_test = train_test_split(X, y, test_size=0.2, random_state=42)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STAGE 4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Stage 4: Baseline Linear Regression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1F5F9"/>
                </a:solidFill>
              </a:defRPr>
            </a:pPr>
            <a:r>
              <a:t>Linear Regression models the continuous target y using a linear combination of input features:</a:t>
            </a:r>
          </a:p>
          <a:p>
            <a:pPr>
              <a:defRPr sz="1800" b="1">
                <a:solidFill>
                  <a:srgbClr val="34D399"/>
                </a:solidFill>
              </a:defRPr>
            </a:pPr>
            <a:r>
              <a:t>Sales = β₀ + β₁·(Temperature) + β₂·(Humidity) + 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728655" cy="310896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101800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Key Model Assumptions:</a:t>
            </a:r>
          </a:p>
          <a:p>
            <a:pPr>
              <a:defRPr sz="1500">
                <a:solidFill>
                  <a:srgbClr val="F1F5F9"/>
                </a:solidFill>
              </a:defRPr>
            </a:pPr>
            <a:r>
              <a:t>• Simple, highly interpretable baseline model.</a:t>
            </a:r>
          </a:p>
          <a:p>
            <a:pPr>
              <a:defRPr sz="1500">
                <a:solidFill>
                  <a:srgbClr val="F1F5F9"/>
                </a:solidFill>
              </a:defRPr>
            </a:pPr>
            <a:r>
              <a:t>• Assumes pure linear independence between weather features and revenue.</a:t>
            </a:r>
          </a:p>
          <a:p>
            <a:pPr>
              <a:defRPr sz="1500">
                <a:solidFill>
                  <a:srgbClr val="F1F5F9"/>
                </a:solidFill>
              </a:defRPr>
            </a:pPr>
            <a:r>
              <a:t>• Serves as the foundation for complex feature transformations.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BASELINE RESULTS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Baseline Model Evaluation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R² Score</a:t>
            </a:r>
          </a:p>
          <a:p>
            <a:pPr>
              <a:defRPr sz="3200" b="1">
                <a:solidFill>
                  <a:srgbClr val="34D399"/>
                </a:solidFill>
              </a:defRPr>
            </a:pPr>
            <a:r>
              <a:t>0.9441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Model explains 94.4% of sales variance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RMSE</a:t>
            </a:r>
          </a:p>
          <a:p>
            <a:pPr>
              <a:defRPr sz="3200" b="1">
                <a:solidFill>
                  <a:srgbClr val="34D399"/>
                </a:solidFill>
              </a:defRPr>
            </a:pPr>
            <a:r>
              <a:t>$12.16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Root Mean Squared Error on test 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MAE</a:t>
            </a:r>
          </a:p>
          <a:p>
            <a:pPr>
              <a:defRPr sz="3200" b="1">
                <a:solidFill>
                  <a:srgbClr val="34D399"/>
                </a:solidFill>
              </a:defRPr>
            </a:pPr>
            <a:r>
              <a:t>$9.89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Mean Absolute Error in dollar predictions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MSE</a:t>
            </a:r>
          </a:p>
          <a:p>
            <a:pPr>
              <a:defRPr sz="3200" b="1">
                <a:solidFill>
                  <a:srgbClr val="34D399"/>
                </a:solidFill>
              </a:defRPr>
            </a:pPr>
            <a:r>
              <a:t>147.80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Mean Squared Error baseline metric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STAGE 5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Stage 5: Why Shift to Polynomial Regression?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⚙️ Non-Linear Customer Behavior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Ice cream demand surges exponentially during intense heatwaves rather than strictly linearly.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728655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⚙️ Feature Interaction Effects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Temperature and humidity interact jointly—high heat with high humidity feels vastly different than high heat with dry 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93776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⚙️ Pipeline Solution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Applying PolynomialFeatures(degree=2) generates interaction terms like Temp², Humidity², and Temp × Humidity.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FEATURE ENGINEERING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Polynomial Model Training &amp; Expansion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Expanded Feature Space (Degree 2)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• Temperature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• Humidity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• Temperature²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• Humidity²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• Temperature × Humidity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737360"/>
            <a:ext cx="46936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Training Performance Boost</a:t>
            </a:r>
          </a:p>
          <a:p>
            <a:br/>
            <a:r>
              <a:t>• Training R² increased from 0.944 → 0.9664</a:t>
            </a:r>
            <a:br/>
            <a:r>
              <a:t>• Training RMSE dropped to 9.08</a:t>
            </a:r>
            <a:br/>
            <a:r>
              <a:t>• Significantly tighter fit on training data points!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STAGE 6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Stage 6: Hyperparameter Tuning via GridSearchCV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Cross-Validation</a:t>
            </a:r>
          </a:p>
          <a:p>
            <a:br/>
            <a:r>
              <a:t>5-Fold Cross Validation applied across training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Parameter Grid</a:t>
            </a:r>
          </a:p>
          <a:p>
            <a:br/>
            <a:r>
              <a:t>{ 'poly__degree': [1, 2, 3, 4]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Scoring Metric</a:t>
            </a:r>
          </a:p>
          <a:p>
            <a:br/>
            <a:r>
              <a:t>R² Score optimization across validation folds.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Objective</a:t>
            </a:r>
          </a:p>
          <a:p>
            <a:br/>
            <a:r>
              <a:t>Determine the optimal degree that prevents overfitting while capturing non-linearity.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HYPERPARAMETER TUNING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GridSearch CV Results &amp; Model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971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4D399"/>
                </a:solidFill>
              </a:defRPr>
            </a:pPr>
            <a:r>
              <a:t>🏆 GridSearch Optimal Choice: Degree = 1 (Linear)</a:t>
            </a:r>
          </a:p>
          <a:p>
            <a:br/>
            <a:r>
              <a:t>Although Degree 2 improved training score (R² 0.966), 5-Fold Cross Validation proved that Degree 1 generalizes better on unseen validation folds with identical test accuracy (R² 0.9441).</a:t>
            </a:r>
            <a:br/>
            <a:br/>
            <a:r>
              <a:t>Degree 1 prevents over-parameterization risks in production!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REGULARIZATION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Regularization Experiment: ElasticNet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1F5F9"/>
                </a:solidFill>
              </a:defRPr>
            </a:pPr>
            <a:r>
              <a:t>Evaluated ElasticNet (L1 + L2 Regularization) to test feature shrinkage: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3429000" cy="16459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ElasticNet R²</a:t>
            </a:r>
          </a:p>
          <a:p>
            <a:pPr>
              <a:defRPr sz="2200" b="1">
                <a:solidFill>
                  <a:srgbClr val="818CF8"/>
                </a:solidFill>
              </a:defRPr>
            </a:pPr>
            <a:r>
              <a:t>0.9440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834640"/>
            <a:ext cx="3429000" cy="16459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3108960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ElasticNet RMSE</a:t>
            </a:r>
          </a:p>
          <a:p>
            <a:pPr>
              <a:defRPr sz="2200" b="1">
                <a:solidFill>
                  <a:srgbClr val="818CF8"/>
                </a:solidFill>
              </a:defRPr>
            </a:pPr>
            <a:r>
              <a:t>12.160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2834640"/>
            <a:ext cx="3429000" cy="16459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3108960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ElasticNet MAE</a:t>
            </a:r>
          </a:p>
          <a:p>
            <a:pPr>
              <a:defRPr sz="2200" b="1">
                <a:solidFill>
                  <a:srgbClr val="818CF8"/>
                </a:solidFill>
              </a:defRPr>
            </a:pPr>
            <a:r>
              <a:t>9.887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Key Conclusion: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ElasticNet yields virtually identical performance to standard Linear Regression, confirming zero feature multicollinearity issues.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BENCHMARKING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Final Model Performance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737360"/>
          <a:ext cx="1018001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6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6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60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51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818CF8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818CF8"/>
                          </a:solidFill>
                        </a:defRPr>
                      </a:pPr>
                      <a:r>
                        <a:t>Test R²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818CF8"/>
                          </a:solidFill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818CF8"/>
                          </a:solidFill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818CF8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</a:defRPr>
                      </a:pPr>
                      <a:r>
                        <a:t>Linear Regression (Deg 1)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</a:defRPr>
                      </a:pPr>
                      <a:r>
                        <a:t>0.9441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</a:defRPr>
                      </a:pPr>
                      <a:r>
                        <a:t>$12.16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</a:defRPr>
                      </a:pPr>
                      <a:r>
                        <a:t>$9.89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</a:defRPr>
                      </a:pPr>
                      <a:r>
                        <a:t>BEST / SELECTED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Polynomial (Deg 2)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0.9664*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$9.08*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$7.35*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Overfits Training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ElasticNet (alpha=0.1)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0.9440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$12.16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$9.89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Identical Benchmark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STAGE 7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Stage 7: Model Serialization &amp; Export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📦 1. Serialization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pickle.dump(best_model, file) saves the complete fitted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728655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📦 2. Storage Path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Stored under models/best_sales_model.pkl in production 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93776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📦 3. Zero Leakage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Saves feature transformer &amp; regression weights in a single unified object.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STAGE 8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Stage 8: Full-Stack Flask Web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📄 app.py</a:t>
            </a:r>
          </a:p>
          <a:p>
            <a:br/>
            <a:r>
              <a:t>Flask web controller handling routing, error handling, and model invocation.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📄 model.py</a:t>
            </a:r>
          </a:p>
          <a:p>
            <a:br/>
            <a:r>
              <a:t>IceCreamPredictor wrapper class managing robust pickle deserialization.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📄 util.py</a:t>
            </a:r>
          </a:p>
          <a:p>
            <a:br/>
            <a:r>
              <a:t>Input validation (-10°C to 50°C) and feature preprocessing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📄 templates/ &amp; static/</a:t>
            </a:r>
          </a:p>
          <a:p>
            <a:br/>
            <a:r>
              <a:t>Responsive HTML dashboard and sleek dark CSS styling.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DEPLOYMENT &amp; UI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Production UI Design &amp; Hugging Face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🚀 Sleek Dark Theme</a:t>
            </a:r>
          </a:p>
          <a:p>
            <a:br/>
            <a:r>
              <a:t>Modern SaaS dark dashboard (#0b0f19) designed for low eye strain.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🚀 Real-Time Validation</a:t>
            </a:r>
          </a:p>
          <a:p>
            <a:br/>
            <a:r>
              <a:t>Input context badges &amp; client-side range limit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🚀 Hugging Face Spaces</a:t>
            </a:r>
          </a:p>
          <a:p>
            <a:br/>
            <a:r>
              <a:t>Containerized via Docker on Port 7860 using Gunicorn production WSGI.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🚀 GitHub Ready</a:t>
            </a:r>
          </a:p>
          <a:p>
            <a:br/>
            <a:r>
              <a:t>Modular directory architecture with .gitignore and clean environment specs.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PROJECT SUMMARY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✅ End-to-End Success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Delivered a fully functional ML pipeline from raw CSV data to live web prediction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728655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✅ High Accuracy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Achieved R² = 0.944 with an average absolute error under $10.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93776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✅ Future Roadmap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• Collect larger real-world dataset (&gt;10,000 records).</a:t>
            </a:r>
            <a:br/>
            <a:r>
              <a:t>• Incorporate foot traffic, day of week, and holiday features.</a:t>
            </a:r>
            <a:br/>
            <a:r>
              <a:t>• Deploy automated CI/CD re-training pipelines.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1282</Words>
  <Application>Microsoft Office PowerPoint</Application>
  <PresentationFormat>Widescreen</PresentationFormat>
  <Paragraphs>214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cutepathan544053@gmail.com</cp:lastModifiedBy>
  <cp:revision>1</cp:revision>
  <dcterms:created xsi:type="dcterms:W3CDTF">2013-01-27T09:14:16Z</dcterms:created>
  <dcterms:modified xsi:type="dcterms:W3CDTF">2026-09-26T22:07:23Z</dcterms:modified>
  <cp:category/>
</cp:coreProperties>
</file>